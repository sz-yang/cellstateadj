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045190b11d4f28" /><Relationship Type="http://schemas.openxmlformats.org/officeDocument/2006/relationships/extended-properties" Target="/docProps/app.xml" Id="R0e820f9e6741419a" /><Relationship Type="http://schemas.openxmlformats.org/officeDocument/2006/relationships/officeDocument" Target="/ppt/presentation.xml" Id="R579f581a42074b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34a6d4b2fd48cd"/>
  </p:sldMasterIdLst>
  <p:notesMasterIdLst>
    <p:notesMasterId xmlns:r="http://schemas.openxmlformats.org/officeDocument/2006/relationships" r:id="R62f761cfef724738"/>
  </p:notesMasterIdLst>
  <p:sldIdLst>
    <p:sldId xmlns:r="http://schemas.openxmlformats.org/officeDocument/2006/relationships" id="256" r:id="R88b281d89b914239"/>
    <p:sldId xmlns:r="http://schemas.openxmlformats.org/officeDocument/2006/relationships" id="257" r:id="Rad8904616b0d4fee"/>
    <p:sldId xmlns:r="http://schemas.openxmlformats.org/officeDocument/2006/relationships" id="258" r:id="R37d70e5cd7e04efc"/>
    <p:sldId xmlns:r="http://schemas.openxmlformats.org/officeDocument/2006/relationships" id="259" r:id="Rb5a84f7e523c46b0"/>
    <p:sldId xmlns:r="http://schemas.openxmlformats.org/officeDocument/2006/relationships" id="260" r:id="Rdb2e7f121acc4477"/>
    <p:sldId xmlns:r="http://schemas.openxmlformats.org/officeDocument/2006/relationships" id="261" r:id="R43485279ca904e5f"/>
    <p:sldId xmlns:r="http://schemas.openxmlformats.org/officeDocument/2006/relationships" id="262" r:id="Rfdea25077f3e450c"/>
    <p:sldId xmlns:r="http://schemas.openxmlformats.org/officeDocument/2006/relationships" id="263" r:id="Rf290bae274674136"/>
    <p:sldId xmlns:r="http://schemas.openxmlformats.org/officeDocument/2006/relationships" id="264" r:id="Rde5288c97a23468b"/>
    <p:sldId xmlns:r="http://schemas.openxmlformats.org/officeDocument/2006/relationships" id="265" r:id="R454123ed48f14e7b"/>
    <p:sldId xmlns:r="http://schemas.openxmlformats.org/officeDocument/2006/relationships" id="266" r:id="R902038d118bd4ecc"/>
    <p:sldId xmlns:r="http://schemas.openxmlformats.org/officeDocument/2006/relationships" id="267" r:id="R3c083f955a5145f4"/>
    <p:sldId xmlns:r="http://schemas.openxmlformats.org/officeDocument/2006/relationships" id="268" r:id="R54d26dbfb1f74b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3b7fa3f4ff45a8" /><Relationship Type="http://schemas.openxmlformats.org/officeDocument/2006/relationships/slideMaster" Target="/ppt/slideMasters/slideMaster1.xml" Id="Rda34a6d4b2fd48cd" /><Relationship Type="http://schemas.openxmlformats.org/officeDocument/2006/relationships/notesMaster" Target="/ppt/notesMasters/notesMaster1.xml" Id="R62f761cfef724738" /><Relationship Type="http://schemas.openxmlformats.org/officeDocument/2006/relationships/presProps" Target="/ppt/presProps.xml" Id="Rea62c9daa6f94cbc" /><Relationship Type="http://schemas.openxmlformats.org/officeDocument/2006/relationships/tableStyles" Target="/ppt/tableStyles.xml" Id="R4f74985d2c904219" /><Relationship Type="http://schemas.openxmlformats.org/officeDocument/2006/relationships/slide" Target="/ppt/slides/slide1.xml" Id="R88b281d89b914239" /><Relationship Type="http://schemas.openxmlformats.org/officeDocument/2006/relationships/slide" Target="/ppt/slides/slide2.xml" Id="Rad8904616b0d4fee" /><Relationship Type="http://schemas.openxmlformats.org/officeDocument/2006/relationships/slide" Target="/ppt/slides/slide3.xml" Id="R37d70e5cd7e04efc" /><Relationship Type="http://schemas.openxmlformats.org/officeDocument/2006/relationships/slide" Target="/ppt/slides/slide4.xml" Id="Rb5a84f7e523c46b0" /><Relationship Type="http://schemas.openxmlformats.org/officeDocument/2006/relationships/slide" Target="/ppt/slides/slide5.xml" Id="Rdb2e7f121acc4477" /><Relationship Type="http://schemas.openxmlformats.org/officeDocument/2006/relationships/slide" Target="/ppt/slides/slide6.xml" Id="R43485279ca904e5f" /><Relationship Type="http://schemas.openxmlformats.org/officeDocument/2006/relationships/slide" Target="/ppt/slides/slide7.xml" Id="Rfdea25077f3e450c" /><Relationship Type="http://schemas.openxmlformats.org/officeDocument/2006/relationships/slide" Target="/ppt/slides/slide8.xml" Id="Rf290bae274674136" /><Relationship Type="http://schemas.openxmlformats.org/officeDocument/2006/relationships/slide" Target="/ppt/slides/slide9.xml" Id="Rde5288c97a23468b" /><Relationship Type="http://schemas.openxmlformats.org/officeDocument/2006/relationships/slide" Target="/ppt/slides/slide10.xml" Id="R454123ed48f14e7b" /><Relationship Type="http://schemas.openxmlformats.org/officeDocument/2006/relationships/slide" Target="/ppt/slides/slide11.xml" Id="R902038d118bd4ecc" /><Relationship Type="http://schemas.openxmlformats.org/officeDocument/2006/relationships/slide" Target="/ppt/slides/slide12.xml" Id="R3c083f955a5145f4" /><Relationship Type="http://schemas.openxmlformats.org/officeDocument/2006/relationships/slide" Target="/ppt/slides/slide13.xml" Id="R54d26dbfb1f74b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b0fcbf513b49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ed578a69c2489f" /><Relationship Type="http://schemas.openxmlformats.org/officeDocument/2006/relationships/notesMaster" Target="/ppt/notesMasters/notesMaster1.xml" Id="R380d36dc0fc747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aa23147b6c4482" /><Relationship Type="http://schemas.openxmlformats.org/officeDocument/2006/relationships/notesMaster" Target="/ppt/notesMasters/notesMaster1.xml" Id="Rf03d5149bda044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fcda2db0174886" /><Relationship Type="http://schemas.openxmlformats.org/officeDocument/2006/relationships/notesMaster" Target="/ppt/notesMasters/notesMaster1.xml" Id="Rc423ae2fd6aa41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68e18a2fb94841" /><Relationship Type="http://schemas.openxmlformats.org/officeDocument/2006/relationships/notesMaster" Target="/ppt/notesMasters/notesMaster1.xml" Id="R7325874c5b8d41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8a86faeef849ae" /><Relationship Type="http://schemas.openxmlformats.org/officeDocument/2006/relationships/notesMaster" Target="/ppt/notesMasters/notesMaster1.xml" Id="R87d3fef9f27847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03e7d073254dac" /><Relationship Type="http://schemas.openxmlformats.org/officeDocument/2006/relationships/notesMaster" Target="/ppt/notesMasters/notesMaster1.xml" Id="R21cf757f774c4d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c49a6b0fdf44ed" /><Relationship Type="http://schemas.openxmlformats.org/officeDocument/2006/relationships/notesMaster" Target="/ppt/notesMasters/notesMaster1.xml" Id="Rb0d89c93ff2342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fb69b9bf0047e3" /><Relationship Type="http://schemas.openxmlformats.org/officeDocument/2006/relationships/notesMaster" Target="/ppt/notesMasters/notesMaster1.xml" Id="R6c2adb8cdd6d4d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644eff3e0f4925" /><Relationship Type="http://schemas.openxmlformats.org/officeDocument/2006/relationships/notesMaster" Target="/ppt/notesMasters/notesMaster1.xml" Id="Rf0143235d72a49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a080d5125b4942" /><Relationship Type="http://schemas.openxmlformats.org/officeDocument/2006/relationships/notesMaster" Target="/ppt/notesMasters/notesMaster1.xml" Id="Rd12db495a74d4c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3d151842b84316" /><Relationship Type="http://schemas.openxmlformats.org/officeDocument/2006/relationships/notesMaster" Target="/ppt/notesMasters/notesMaster1.xml" Id="Rb23d498bed6c4e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c26cd1eec44d21" /><Relationship Type="http://schemas.openxmlformats.org/officeDocument/2006/relationships/notesMaster" Target="/ppt/notesMasters/notesMaster1.xml" Id="R1ad0f266505a48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3a3e1c7103446a" /><Relationship Type="http://schemas.openxmlformats.org/officeDocument/2006/relationships/notesMaster" Target="/ppt/notesMasters/notesMaster1.xml" Id="R8fd88fdbb5f847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 min. Start with the biological definition of state. Ask whether a developmental state should summarize both current expression and transition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~1.5 min. Marker and OT methods solve important but different problems. The missing criterion is predictive sufficiency for both past and future.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~1.5 min. Use this as the map for the rest of the talk. Stress the two-stage separation: reference couplings are estimated first and fixed during state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~1.25 min. Define every index before using it. t indexes time; i and j index cells; G is genes; d is latent dimension. The representation is learned before transport and then frozen.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~1.75 min. Introduce one OT equation only. Explain the coupling entry and epsilon. This is a probabilistic matching between destructive snapshots, not physical ancestry.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~1.5 min. Choose epsilon using coupling informativeness and stability, not the final state objective. Freezing prevents the learned states from manufacturing homogeneous fingerprints.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~1.5 min. Define K, M, Z, and g before using them. Soft memberships retain uncertainty and make the optimization differentiable.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~1.5 min. T sums cell-level transport after weighting source and target cells by memberships. Normalizing a row by state mass gives the forward distribution over descendant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~1.75 min. Fingerprints are the bridge from cell-level transport to the state definition. They are probability vectors over learned states, not gene-expression vectors and not observed lineage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~2 min. This is the central mathematical definition. The implemented within-state KL losses equal these conditional mutual informations under the induced joint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~1.5 min. Every term now uses notation already introduced. The lambda values trade off transport fidelity, expression coherence, and temporal sufficiency. Keep the full reconstruction formula in reserve for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~1.5 min. The objective cannot be one model-selection score. Epsilon, K, and temporal weights answer different questions and must be chosen in that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~1.5 min plus discussion. Close by choosing a biological system with replicates and ideally orthogonal dynamic evidence. Agree on what success would justify the added complexity.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/Users/joshuayang/Projects/CellStateAdj/plan_8-23.pdf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d33d9b6814a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9d31d95ea445a1" /><Relationship Type="http://schemas.openxmlformats.org/officeDocument/2006/relationships/slideLayout" Target="/ppt/slideLayouts/slideLayout1.xml" Id="Rc89410abae904d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410abae904d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13c9f664e43af" /><Relationship Type="http://schemas.openxmlformats.org/officeDocument/2006/relationships/notesSlide" Target="/ppt/notesSlides/notesSlide1.xml" Id="R89eb2fc80da242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a396d221d4d3b" /><Relationship Type="http://schemas.openxmlformats.org/officeDocument/2006/relationships/notesSlide" Target="/ppt/notesSlides/notesSlide2.xml" Id="R0e0d6f9efaed4a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91e85fa364976" /><Relationship Type="http://schemas.openxmlformats.org/officeDocument/2006/relationships/notesSlide" Target="/ppt/notesSlides/notesSlide3.xml" Id="R24035ed9595542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3c1a36e8b4775" /><Relationship Type="http://schemas.openxmlformats.org/officeDocument/2006/relationships/notesSlide" Target="/ppt/notesSlides/notesSlide4.xml" Id="R0104325342014f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fc2f902854038" /><Relationship Type="http://schemas.openxmlformats.org/officeDocument/2006/relationships/notesSlide" Target="/ppt/notesSlides/notesSlide5.xml" Id="R96627c99077843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edc0392474379" /><Relationship Type="http://schemas.openxmlformats.org/officeDocument/2006/relationships/notesSlide" Target="/ppt/notesSlides/notesSlide6.xml" Id="R8e99837cff5248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f61168369454e" /><Relationship Type="http://schemas.openxmlformats.org/officeDocument/2006/relationships/notesSlide" Target="/ppt/notesSlides/notesSlide7.xml" Id="R189c26c761f641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5b701838b47ac" /><Relationship Type="http://schemas.openxmlformats.org/officeDocument/2006/relationships/notesSlide" Target="/ppt/notesSlides/notesSlide8.xml" Id="R4d16fc6f792a40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21e00b25046b6" /><Relationship Type="http://schemas.openxmlformats.org/officeDocument/2006/relationships/notesSlide" Target="/ppt/notesSlides/notesSlide9.xml" Id="R3c13135d337c4b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0b278cbfe44b5" /><Relationship Type="http://schemas.openxmlformats.org/officeDocument/2006/relationships/notesSlide" Target="/ppt/notesSlides/notesSlide10.xml" Id="R2af429f95b8349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09e4887184063" /><Relationship Type="http://schemas.openxmlformats.org/officeDocument/2006/relationships/notesSlide" Target="/ppt/notesSlides/notesSlide11.xml" Id="Rdc75c0500ed843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34e5aa5194c36" /><Relationship Type="http://schemas.openxmlformats.org/officeDocument/2006/relationships/notesSlide" Target="/ppt/notesSlides/notesSlide12.xml" Id="R0b7e0a6710324d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a3643f2634640" /><Relationship Type="http://schemas.openxmlformats.org/officeDocument/2006/relationships/notesSlide" Target="/ppt/notesSlides/notesSlide13.xml" Id="Rb2b0d8c4dfd948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DCCDE3-C027-48D2-84C3-3286F0BF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56D"/>
                </a:solidFill>
                <a:latin typeface="Arial"/>
                <a:ea typeface="Arial"/>
                <a:cs typeface="Arial"/>
              </a:rPr>
              <a:t>BIOLOGICAL QUESTION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934847E3-35F4-4B92-820D-DFD11FDF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should two cells count as the same developmental state?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29532AD-C4B8-40EC-89F6-9002C576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876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Similar expression is useful — but should a state also summarize where cells plausibly came from and where they can plausibly go?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75615193-F550-48FE-99E9-094F57C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4993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F27061-A224-4498-B03D-B3C047DC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markers and OT still leave a gap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53EB43-8484-4D72-994D-E5C64CF4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markers">
            <a:extLst xmlns:a="http://schemas.openxmlformats.org/drawingml/2006/main">
              <a:ext uri="{FF2B5EF4-FFF2-40B4-BE49-F238E27FC236}">
                <a16:creationId xmlns:a16="http://schemas.microsoft.com/office/drawing/2014/main" id="{DF16407C-44C0-43FC-80AF-95E1C130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524250" cy="36195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5E178A-E2E2-4929-A274-2A8A8593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Markers / expression clusters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1C1930-A6E9-47DB-80A7-44DEAA37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1051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Define states from current molecular phenotype.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Strength: interpretable identities.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Gap: one cluster can contain cells with different histories or potentials.</a:t>
            </a:r>
          </a:p>
        </p:txBody>
      </p:sp>
      <p:sp>
        <p:nvSpPr>
          <p:cNvPr id="6" name="ot-gap">
            <a:extLst xmlns:a="http://schemas.openxmlformats.org/drawingml/2006/main">
              <a:ext uri="{FF2B5EF4-FFF2-40B4-BE49-F238E27FC236}">
                <a16:creationId xmlns:a16="http://schemas.microsoft.com/office/drawing/2014/main" id="{D4FABA22-3D8B-4154-B8B1-98703248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3524250" cy="36195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2FEB1E-BE24-405F-841D-444FD3D0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Cell- or cluster-level OT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DE0FEB-046C-4DBF-BC19-F846EDA9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31051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Infer probable mass transport between sampled times.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Strength: connects asynchronous snapshots.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Gap: transport-efficient states need not be transition-sufficient biological states.</a:t>
            </a:r>
          </a:p>
        </p:txBody>
      </p:sp>
      <p:sp>
        <p:nvSpPr>
          <p:cNvPr id="9" name="target">
            <a:extLst xmlns:a="http://schemas.openxmlformats.org/drawingml/2006/main">
              <a:ext uri="{FF2B5EF4-FFF2-40B4-BE49-F238E27FC236}">
                <a16:creationId xmlns:a16="http://schemas.microsoft.com/office/drawing/2014/main" id="{C083521A-45D6-4F12-B602-6D6EEBA1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543300" cy="36195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4B2328D-F58F-4F68-B9C2-63BBF577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Our target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953CDD8-0B5F-4DAB-8229-8E8424B6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1242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Learn time-local states that are expression-compatible and summarize predecessor and descendant distributions.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Criterion: after conditioning on state, exact cell identity adds little transition information.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E4E774-AAF7-4E08-8C7E-7E219392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definition and transition inference should inform each other</a:t>
            </a:r>
          </a:p>
        </p:txBody>
      </p:sp>
    </p:spTree>
    <p:extLst>
      <p:ext uri="{BB962C8B-B14F-4D97-AF65-F5344CB8AC3E}">
        <p14:creationId xmlns:p14="http://schemas.microsoft.com/office/powerpoint/2010/main" val="1609469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CE7021-4332-422E-B54F-4D71DFE0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Our plan: reference transport, then temporal coarse-graining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4FB843-1094-43BD-B6FB-207D762A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flow-0">
            <a:extLst xmlns:a="http://schemas.openxmlformats.org/drawingml/2006/main">
              <a:ext uri="{FF2B5EF4-FFF2-40B4-BE49-F238E27FC236}">
                <a16:creationId xmlns:a16="http://schemas.microsoft.com/office/drawing/2014/main" id="{7D24FF3D-3347-4DFC-95AE-35F308F8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1">
            <a:extLst xmlns:a="http://schemas.openxmlformats.org/drawingml/2006/main">
              <a:ext uri="{FF2B5EF4-FFF2-40B4-BE49-F238E27FC236}">
                <a16:creationId xmlns:a16="http://schemas.microsoft.com/office/drawing/2014/main" id="{EEE70BFE-360F-4648-B8D1-44D12336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90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2">
            <a:extLst xmlns:a="http://schemas.openxmlformats.org/drawingml/2006/main">
              <a:ext uri="{FF2B5EF4-FFF2-40B4-BE49-F238E27FC236}">
                <a16:creationId xmlns:a16="http://schemas.microsoft.com/office/drawing/2014/main" id="{C4F7CBC8-3C2C-4ABC-87E0-CF99BB4A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3">
            <a:extLst xmlns:a="http://schemas.openxmlformats.org/drawingml/2006/main">
              <a:ext uri="{FF2B5EF4-FFF2-40B4-BE49-F238E27FC236}">
                <a16:creationId xmlns:a16="http://schemas.microsoft.com/office/drawing/2014/main" id="{E1D62CFD-7CB8-40C4-917C-193BE453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4">
            <a:extLst xmlns:a="http://schemas.openxmlformats.org/drawingml/2006/main">
              <a:ext uri="{FF2B5EF4-FFF2-40B4-BE49-F238E27FC236}">
                <a16:creationId xmlns:a16="http://schemas.microsoft.com/office/drawing/2014/main" id="{B91BAFAE-9E8D-4A84-B579-0CC188C8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90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43150" y="2390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705350" y="2390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067550" y="2390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2390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7F7E8EE-642B-4F7E-A111-26A106A2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Count matrices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CA9B28E-33D1-46CE-9A77-48AB57DB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ordered times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74304F1-FE6D-4CAE-B965-0223F4D7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19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6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Frozen representation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D8AA4D-A8B5-4C13-9362-0119B0E4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34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shared expression space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479A4DB-13CA-44E5-B2D1-A9261C48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19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Reference OT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CE75950-2B70-4C4F-98D9-C8CD640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57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adjacent-time couplings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6D3C897-F61D-4A80-9494-DAC3A45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19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4. Learn states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C1D6ED9-F8B0-417A-9E5A-123B78CA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joint coarse-graining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2B642ED-E527-4311-8DF7-E3C02EDA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19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5. Validate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60782C7-DE10-4A99-9DDE-7702A3BD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57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robustness + biology</a:t>
            </a:r>
          </a:p>
        </p:txBody>
      </p:sp>
      <p:sp>
        <p:nvSpPr>
          <p:cNvPr id="22" name="stage-a">
            <a:extLst xmlns:a="http://schemas.openxmlformats.org/drawingml/2006/main">
              <a:ext uri="{FF2B5EF4-FFF2-40B4-BE49-F238E27FC236}">
                <a16:creationId xmlns:a16="http://schemas.microsoft.com/office/drawing/2014/main" id="{B982DAAF-CA12-4845-889B-F0F6B6CA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59697BF-F9AE-4282-9EE9-0F695D54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A: construct the reference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277437A-BCD9-4B39-8E2E-522A3467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Choose latent geometry and the OT entropy regime. Estimate adjacent-time cell couplings, then freeze them.</a:t>
            </a:r>
          </a:p>
        </p:txBody>
      </p:sp>
      <p:sp>
        <p:nvSpPr>
          <p:cNvPr id="25" name="stage-b">
            <a:extLst xmlns:a="http://schemas.openxmlformats.org/drawingml/2006/main">
              <a:ext uri="{FF2B5EF4-FFF2-40B4-BE49-F238E27FC236}">
                <a16:creationId xmlns:a16="http://schemas.microsoft.com/office/drawing/2014/main" id="{158C351E-5939-4898-9EE5-F1504644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855A79A-6E58-4286-9351-A8413C5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243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B: learn the coarse-graining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0F8465A-88FF-4BAF-93AC-DB5F1724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Learn soft states across all times that preserve transport structure, remain expression-coherent, and summarize past and future fingerprints.</a:t>
            </a:r>
          </a:p>
        </p:txBody>
      </p:sp>
    </p:spTree>
    <p:extLst>
      <p:ext uri="{BB962C8B-B14F-4D97-AF65-F5344CB8AC3E}">
        <p14:creationId xmlns:p14="http://schemas.microsoft.com/office/powerpoint/2010/main" val="776365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471B10-CD55-4AB2-A51C-B0D2C3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Inputs: time-resolved single-cell expression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19BE19A-F3CC-4E7C-9452-BCF3916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observed">
            <a:extLst xmlns:a="http://schemas.openxmlformats.org/drawingml/2006/main">
              <a:ext uri="{FF2B5EF4-FFF2-40B4-BE49-F238E27FC236}">
                <a16:creationId xmlns:a16="http://schemas.microsoft.com/office/drawing/2014/main" id="{91FF05E2-4BE6-4C26-85B3-68277197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51435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9DD477-9E99-4643-872B-85CECA8B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Observed data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7699F2-1844-43D2-AA68-BC0B5083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7244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 = number of sampled times</a:t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nₜ = number of cells at time t</a:t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G = number of genes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X(t) is the nₜ × G count matrix at time t.</a:t>
            </a:r>
          </a:p>
        </p:txBody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18042600-A2DB-4D83-BCAB-3202ADC3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4196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58B62B-75AD-4EA3-AAFD-C4118B4E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X(t): nₜ × G     for t = 1, …, T</a:t>
            </a:r>
          </a:p>
        </p:txBody>
      </p:sp>
      <p:sp>
        <p:nvSpPr>
          <p:cNvPr id="8" name="representation">
            <a:extLst xmlns:a="http://schemas.openxmlformats.org/drawingml/2006/main">
              <a:ext uri="{FF2B5EF4-FFF2-40B4-BE49-F238E27FC236}">
                <a16:creationId xmlns:a16="http://schemas.microsoft.com/office/drawing/2014/main" id="{7DC24B83-2229-46DC-B575-1B4D946E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54864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0DE654-F00B-4E52-849A-0F62C028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 representation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AF893D-2C14-4927-9783-C41DAC63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28850"/>
            <a:ext cx="50673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For cell i at time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fψ = chosen embedding model</a:t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zᵗᵢ = low-dimensional expression representation</a:t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aₜ,ᵢ = cell weight, with Σᵢ aₜ,ᵢ = 1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2617438A-4AAB-46B9-825A-12E35881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44577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C5FB1FF-AE18-4423-AF42-E2502C62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814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zᵗᵢ = fψ(xᵗᵢ) ∈ ℝᵈ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D7D790C-B4E9-407B-9BEE-6CCDA82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Time is biological structure here, not a batch effect to remove</a:t>
            </a:r>
          </a:p>
        </p:txBody>
      </p:sp>
    </p:spTree>
    <p:extLst>
      <p:ext uri="{BB962C8B-B14F-4D97-AF65-F5344CB8AC3E}">
        <p14:creationId xmlns:p14="http://schemas.microsoft.com/office/powerpoint/2010/main" val="204911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E637D1-D88D-4098-BA9A-F9C7F7BD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1: estimate adjacent-time cell transport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3E0CF0-53DE-48EB-96D8-912801E4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3F5D8A6-C07B-4BD4-9095-2112C12A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Cost: cell i at t → cell j at t+1</a:t>
            </a:r>
          </a:p>
        </p:txBody>
      </p:sp>
      <p:sp>
        <p:nvSpPr>
          <p:cNvPr id="4" name="formula">
            <a:extLst xmlns:a="http://schemas.openxmlformats.org/drawingml/2006/main">
              <a:ext uri="{FF2B5EF4-FFF2-40B4-BE49-F238E27FC236}">
                <a16:creationId xmlns:a16="http://schemas.microsoft.com/office/drawing/2014/main" id="{18CCA4F1-E55E-42B9-8C56-54F4CFB7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52578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4B32CC-B0E8-437A-B05D-28D87D24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Cᵗᵢⱼ = ||zᵗᵢ − zᵗ⁺¹ⱼ||² / Δτₜ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667D54E-4B92-46E7-A078-639A0CE2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Nearby cells in the frozen expression geometry receive lower cost.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9E467EF9-4F75-4E49-B491-9CB6C497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573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64569F3-32FC-4816-AD57-D6BBD02F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14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Entropic optimal transport</a:t>
            </a:r>
          </a:p>
        </p:txBody>
      </p:sp>
      <p:sp>
        <p:nvSpPr>
          <p:cNvPr id="9" name="formula">
            <a:extLst xmlns:a="http://schemas.openxmlformats.org/drawingml/2006/main">
              <a:ext uri="{FF2B5EF4-FFF2-40B4-BE49-F238E27FC236}">
                <a16:creationId xmlns:a16="http://schemas.microsoft.com/office/drawing/2014/main" id="{521A649E-80DF-49CB-A74C-0757F635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51054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3255C50-F0C9-4C3B-9B3A-ACB239A6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97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Pᵋₜ = arg min [⟨Cᵗ,P⟩ − εH(P)]</a:t>
            </a:r>
          </a:p>
        </p:txBody>
      </p:sp>
      <p:sp>
        <p:nvSpPr>
          <p:cNvPr id="11" name="dot">
            <a:extLst xmlns:a="http://schemas.openxmlformats.org/drawingml/2006/main">
              <a:ext uri="{FF2B5EF4-FFF2-40B4-BE49-F238E27FC236}">
                <a16:creationId xmlns:a16="http://schemas.microsoft.com/office/drawing/2014/main" id="{984F0A74-08E4-48A0-B0A4-F5642626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97622EF-6564-4608-896D-68896581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Pᵋₜ(i,j): mass from cell i to cell j</a:t>
            </a:r>
          </a:p>
        </p:txBody>
      </p:sp>
      <p:sp>
        <p:nvSpPr>
          <p:cNvPr id="13" name="dot">
            <a:extLst xmlns:a="http://schemas.openxmlformats.org/drawingml/2006/main">
              <a:ext uri="{FF2B5EF4-FFF2-40B4-BE49-F238E27FC236}">
                <a16:creationId xmlns:a16="http://schemas.microsoft.com/office/drawing/2014/main" id="{74B78079-5FB1-406B-A518-C5B66456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B8A5413-2825-425B-BC75-608E3CA1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8615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ε: entropy / smoothing parameter</a:t>
            </a:r>
          </a:p>
        </p:txBody>
      </p:sp>
      <p:sp>
        <p:nvSpPr>
          <p:cNvPr id="15" name="dot">
            <a:extLst xmlns:a="http://schemas.openxmlformats.org/drawingml/2006/main">
              <a:ext uri="{FF2B5EF4-FFF2-40B4-BE49-F238E27FC236}">
                <a16:creationId xmlns:a16="http://schemas.microsoft.com/office/drawing/2014/main" id="{CA9301DD-D8DE-4F05-B21C-1D53F7F8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083F70F-75B8-466E-8489-29DBC8A8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H(P): entropy of the coupling</a:t>
            </a:r>
          </a:p>
        </p:txBody>
      </p:sp>
      <p:sp>
        <p:nvSpPr>
          <p:cNvPr id="17" name="dot">
            <a:extLst xmlns:a="http://schemas.openxmlformats.org/drawingml/2006/main">
              <a:ext uri="{FF2B5EF4-FFF2-40B4-BE49-F238E27FC236}">
                <a16:creationId xmlns:a16="http://schemas.microsoft.com/office/drawing/2014/main" id="{5E99F75E-5476-4AC4-A8E3-C7B45C0D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81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E286D4B-6753-4960-A927-FE36FF60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has marginals aₜ and aₜ₊₁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76CF20-0CC2-4907-8BB1-2A7F9CA4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197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Probabilistic compatibility — not observed lineage</a:t>
            </a:r>
          </a:p>
        </p:txBody>
      </p:sp>
    </p:spTree>
    <p:extLst>
      <p:ext uri="{BB962C8B-B14F-4D97-AF65-F5344CB8AC3E}">
        <p14:creationId xmlns:p14="http://schemas.microsoft.com/office/powerpoint/2010/main" val="837625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6FF8E7-5952-4543-BB0F-235DC186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 an informative OT regime, then freeze it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A829D42-D3AA-4A13-9F4D-25785C35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eps-large">
            <a:extLst xmlns:a="http://schemas.openxmlformats.org/drawingml/2006/main">
              <a:ext uri="{FF2B5EF4-FFF2-40B4-BE49-F238E27FC236}">
                <a16:creationId xmlns:a16="http://schemas.microsoft.com/office/drawing/2014/main" id="{CED24F2B-B172-4D52-9C71-0E69662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9530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A08521-09E2-494C-9CE2-B469AD3C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If ε is too large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4BC26B2-BE59-45D8-98D9-9107927D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The coupling approaches independence. Cells acquire nearly identical transition distributions, so transport contains little information.</a:t>
            </a:r>
          </a:p>
        </p:txBody>
      </p:sp>
      <p:sp>
        <p:nvSpPr>
          <p:cNvPr id="6" name="eps-small">
            <a:extLst xmlns:a="http://schemas.openxmlformats.org/drawingml/2006/main">
              <a:ext uri="{FF2B5EF4-FFF2-40B4-BE49-F238E27FC236}">
                <a16:creationId xmlns:a16="http://schemas.microsoft.com/office/drawing/2014/main" id="{C2923C11-D434-44C5-8002-7FC366CA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49530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2DC042-FD26-4E4E-84D5-0974A376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If ε is too small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6EE3416-ED7B-45EB-8D37-CC192301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The coupling becomes sharp and may be unstable to sampling noise or small perturbations of the cost.</a:t>
            </a:r>
          </a:p>
        </p:txBody>
      </p:sp>
      <p:sp>
        <p:nvSpPr>
          <p:cNvPr id="9" name="freeze">
            <a:extLst xmlns:a="http://schemas.openxmlformats.org/drawingml/2006/main">
              <a:ext uri="{FF2B5EF4-FFF2-40B4-BE49-F238E27FC236}">
                <a16:creationId xmlns:a16="http://schemas.microsoft.com/office/drawing/2014/main" id="{8386FB52-8CBA-4BB9-A817-6D1E5031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486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93A7A7-3524-4DF2-B88F-18F2E4B2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Selection and freezing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9902F45-584B-4066-96C1-84E0E1F1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50673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Select an informative, stable ε*. Then define the reference coupling and keep the entire sequence fixed during state learning.</a:t>
            </a:r>
          </a:p>
        </p:txBody>
      </p:sp>
      <p:sp>
        <p:nvSpPr>
          <p:cNvPr id="12" name="formula">
            <a:extLst xmlns:a="http://schemas.openxmlformats.org/drawingml/2006/main">
              <a:ext uri="{FF2B5EF4-FFF2-40B4-BE49-F238E27FC236}">
                <a16:creationId xmlns:a16="http://schemas.microsoft.com/office/drawing/2014/main" id="{51A62B38-4DC9-4554-B10B-27B503AB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42291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22C8E35-473B-450F-A7F9-F461363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48025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refₜ = Pₜ(ε*)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8135499-4105-4768-814F-1F6158A1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435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States are judged against transport information they did not create</a:t>
            </a:r>
          </a:p>
        </p:txBody>
      </p:sp>
    </p:spTree>
    <p:extLst>
      <p:ext uri="{BB962C8B-B14F-4D97-AF65-F5344CB8AC3E}">
        <p14:creationId xmlns:p14="http://schemas.microsoft.com/office/powerpoint/2010/main" val="611050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45D2E6-917D-4105-BF71-B04F200B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2: learn soft time-local states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B07E709-13D6-4146-9E12-9FECEA43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membership">
            <a:extLst xmlns:a="http://schemas.openxmlformats.org/drawingml/2006/main">
              <a:ext uri="{FF2B5EF4-FFF2-40B4-BE49-F238E27FC236}">
                <a16:creationId xmlns:a16="http://schemas.microsoft.com/office/drawing/2014/main" id="{38EA3E03-0460-4418-A08F-6352CF1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4292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95D9C6B-1E74-43C6-82F0-D25828E6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 membership matrix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711ECA-881A-483A-ACF1-8005EA9A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50101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K = candidate number of states</a:t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Mₜ,ᵢₖ = probability cell i belongs to state k at time t</a:t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Each row sums to one.</a:t>
            </a:r>
          </a:p>
        </p:txBody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DE5D7853-E634-4921-9423-D6F00764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7434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AB18B7-BD75-43E8-91DA-21A8ECB3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Mₜ: nₜ cells × K states     Σₖ Mₜ,ᵢₖ = 1</a:t>
            </a:r>
          </a:p>
        </p:txBody>
      </p:sp>
      <p:sp>
        <p:nvSpPr>
          <p:cNvPr id="8" name="state-rv">
            <a:extLst xmlns:a="http://schemas.openxmlformats.org/drawingml/2006/main">
              <a:ext uri="{FF2B5EF4-FFF2-40B4-BE49-F238E27FC236}">
                <a16:creationId xmlns:a16="http://schemas.microsoft.com/office/drawing/2014/main" id="{8ED2863F-D17C-423F-A3C8-4A44804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66850"/>
            <a:ext cx="5219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8A44F05-C0B8-42B1-8270-F2EF3BDB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 random variable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C433723-7F09-4B35-8D77-E7E9D564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800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Zₜ denotes the learned state at time t. State labels are time-local: state k at t is not assumed identical to state k at t+1.</a:t>
            </a:r>
          </a:p>
        </p:txBody>
      </p:sp>
      <p:sp>
        <p:nvSpPr>
          <p:cNvPr id="11" name="state-mass">
            <a:extLst xmlns:a="http://schemas.openxmlformats.org/drawingml/2006/main">
              <a:ext uri="{FF2B5EF4-FFF2-40B4-BE49-F238E27FC236}">
                <a16:creationId xmlns:a16="http://schemas.microsoft.com/office/drawing/2014/main" id="{E80E18D2-6A1B-4DBF-8C98-14B71062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52197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611CD90-F7F9-47D5-ABAD-09105F25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 mass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4A359A7-716A-4636-8863-B2198D2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gₜ,ₖ = total cell weight assigned to state k</a:t>
            </a:r>
          </a:p>
        </p:txBody>
      </p:sp>
      <p:sp>
        <p:nvSpPr>
          <p:cNvPr id="14" name="formula">
            <a:extLst xmlns:a="http://schemas.openxmlformats.org/drawingml/2006/main">
              <a:ext uri="{FF2B5EF4-FFF2-40B4-BE49-F238E27FC236}">
                <a16:creationId xmlns:a16="http://schemas.microsoft.com/office/drawing/2014/main" id="{8F8EDECD-DB5D-46D3-9B83-2ED53A06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52950"/>
            <a:ext cx="4191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2AFF6C-BB61-4C07-98C2-768BA40F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95825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gₜ,ₖ = Σᵢ aₜ,ᵢ Mₜ,ᵢₖ</a:t>
            </a:r>
          </a:p>
        </p:txBody>
      </p:sp>
    </p:spTree>
    <p:extLst>
      <p:ext uri="{BB962C8B-B14F-4D97-AF65-F5344CB8AC3E}">
        <p14:creationId xmlns:p14="http://schemas.microsoft.com/office/powerpoint/2010/main" val="1580953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089661-46B9-4BD3-BFB9-64BF6402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 transitions are induced from the memberships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878281C-B80B-4C92-B0DA-F7AC641B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2E62389-E1B9-4F10-96DE-70B2645B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Aggregate cell-level transport through the memberships</a:t>
            </a:r>
          </a:p>
        </p:txBody>
      </p:sp>
      <p:sp>
        <p:nvSpPr>
          <p:cNvPr id="4" name="formula">
            <a:extLst xmlns:a="http://schemas.openxmlformats.org/drawingml/2006/main">
              <a:ext uri="{FF2B5EF4-FFF2-40B4-BE49-F238E27FC236}">
                <a16:creationId xmlns:a16="http://schemas.microsoft.com/office/drawing/2014/main" id="{5E237E93-9C3C-49B6-B32D-69546086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59436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ABD627-9E49-4773-AD9A-7757A915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560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Tₜ = Mₜᵀ P refₜ Mₜ₊₁      (K × K)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2A8897-E179-4701-8FF6-3D355756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594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Tₜ(k,ℓ): transport mass from state k at t to state ℓ at t+1</a:t>
            </a:r>
          </a:p>
        </p:txBody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5AF6E91D-8112-4FAF-8863-B55A3BFB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59436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32851C0-6229-434C-96E1-315847C8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Aₜ(k,ℓ) = Tₜ(k,ℓ) / gₜ,ₖ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05D2F3-8292-4644-8353-2FB35B31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594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Aₜ(k,ℓ) = Pr(Zₜ₊₁ = ℓ | Zₜ = k)</a:t>
            </a:r>
          </a:p>
        </p:txBody>
      </p:sp>
      <p:sp>
        <p:nvSpPr>
          <p:cNvPr id="10" name="state-k">
            <a:extLst xmlns:a="http://schemas.openxmlformats.org/drawingml/2006/main">
              <a:ext uri="{FF2B5EF4-FFF2-40B4-BE49-F238E27FC236}">
                <a16:creationId xmlns:a16="http://schemas.microsoft.com/office/drawing/2014/main" id="{088785CD-FD1F-44A4-8D71-F6BFDD26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Arial"/>
                <a:ea typeface="Arial"/>
                <a:cs typeface="Arial"/>
              </a:defRPr>
            </a:pPr>
            <a:r>
              <a:rPr sz="1200" b="1"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11" name="state-b">
            <a:extLst xmlns:a="http://schemas.openxmlformats.org/drawingml/2006/main">
              <a:ext uri="{FF2B5EF4-FFF2-40B4-BE49-F238E27FC236}">
                <a16:creationId xmlns:a16="http://schemas.microsoft.com/office/drawing/2014/main" id="{F99E5E1E-5B6C-42EF-B8AF-525D11BD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48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state-l">
            <a:extLst xmlns:a="http://schemas.openxmlformats.org/drawingml/2006/main">
              <a:ext uri="{FF2B5EF4-FFF2-40B4-BE49-F238E27FC236}">
                <a16:creationId xmlns:a16="http://schemas.microsoft.com/office/drawing/2014/main" id="{427C3E91-E51D-4684-8DBC-6AEBA8CA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Arial"/>
                <a:ea typeface="Arial"/>
                <a:cs typeface="Arial"/>
              </a:defRPr>
            </a:pPr>
            <a:r>
              <a:rPr sz="1200" b="1">
                <a:latin typeface="Arial"/>
                <a:ea typeface="Arial"/>
                <a:cs typeface="Arial"/>
              </a:rPr>
              <a:t>ℓ</a:t>
            </a:r>
          </a:p>
        </p:txBody>
      </p:sp>
      <p:sp>
        <p:nvSpPr>
          <p:cNvPr id="13" name="state-d">
            <a:extLst xmlns:a="http://schemas.openxmlformats.org/drawingml/2006/main">
              <a:ext uri="{FF2B5EF4-FFF2-40B4-BE49-F238E27FC236}">
                <a16:creationId xmlns:a16="http://schemas.microsoft.com/office/drawing/2014/main" id="{8A98EC1D-BB13-4137-8AC8-0B8B7250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90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state-e">
            <a:extLst xmlns:a="http://schemas.openxmlformats.org/drawingml/2006/main">
              <a:ext uri="{FF2B5EF4-FFF2-40B4-BE49-F238E27FC236}">
                <a16:creationId xmlns:a16="http://schemas.microsoft.com/office/drawing/2014/main" id="{4EC9A766-790C-4CFA-8043-4761866F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29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cxnSp>
        <p:nvCxnSpPr>
          <p:cNvPr id="36" name=""/>
          <p:cNvCxnSpPr>
            <a:stCxn xmlns:a="http://schemas.openxmlformats.org/drawingml/2006/main" id="10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8058150" y="2000250"/>
            <a:ext cx="20764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0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8058150" y="2381250"/>
            <a:ext cx="20764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8058150" y="2381250"/>
            <a:ext cx="2076450" cy="2095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1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8058150" y="3238500"/>
            <a:ext cx="20764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224147B-032A-4850-BB35-916734A6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67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time 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4B17AC9-6E29-4613-A021-EABC4B4A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67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time t+1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CE0EEA3-B8E5-4994-B2FD-1266A732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Tₜ is a deterministic function of M and P ref</a:t>
            </a:r>
          </a:p>
        </p:txBody>
      </p:sp>
    </p:spTree>
    <p:extLst>
      <p:ext uri="{BB962C8B-B14F-4D97-AF65-F5344CB8AC3E}">
        <p14:creationId xmlns:p14="http://schemas.microsoft.com/office/powerpoint/2010/main" val="78853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86081C-AFEE-4577-A231-C3297FBD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Fingerprints summarize each cell’s plausible past and future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0BF3ADE-B738-4A7C-B391-FBA69AE5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fp-out">
            <a:extLst xmlns:a="http://schemas.openxmlformats.org/drawingml/2006/main">
              <a:ext uri="{FF2B5EF4-FFF2-40B4-BE49-F238E27FC236}">
                <a16:creationId xmlns:a16="http://schemas.microsoft.com/office/drawing/2014/main" id="{70367D44-79CF-42DD-99E0-BF89E6F5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53340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71D7F0-7171-408B-9573-E21E3A5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Outgoing fingerprint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0DD8CB-056F-448A-B420-E167F12E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914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For cell i at time t, f⁺ₜᵢ is a probability vector over descendant states. Entry ℓ is the OT-implied probability of descendant state ℓ.</a:t>
            </a:r>
          </a:p>
        </p:txBody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48DBED38-8EBA-4C32-9CB3-6E854E2B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8006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D7A1C9-0E88-4C85-B65F-E0EDF117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5175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f⁺ₜᵢ = P refₜ(i,·) Mₜ₊₁ / P refₜ(i,·)1</a:t>
            </a:r>
          </a:p>
        </p:txBody>
      </p:sp>
      <p:sp>
        <p:nvSpPr>
          <p:cNvPr id="8" name="fp-in">
            <a:extLst xmlns:a="http://schemas.openxmlformats.org/drawingml/2006/main">
              <a:ext uri="{FF2B5EF4-FFF2-40B4-BE49-F238E27FC236}">
                <a16:creationId xmlns:a16="http://schemas.microsoft.com/office/drawing/2014/main" id="{5456D029-9391-4303-89DE-837D92F7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09700"/>
            <a:ext cx="53340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A7B7170-4080-4F38-A90E-00C77777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Incoming fingerprint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57F3B2-42C0-4A26-9AEE-490B6E44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914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For cell i at time t, f⁻ₜᵢ is a probability vector over predecessor states. Entry k is the OT-implied probability of predecessor state k.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0D000030-4BD2-4276-BE6F-75E15F8F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62300"/>
            <a:ext cx="48006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C5FE31-35FD-416A-BD66-59951272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05175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f⁻ₜᵢ = P refₜ₋₁(·,i)ᵀ Mₜ₋₁ / P refₜ₋₁(·,i)ᵀ1</a:t>
            </a:r>
          </a:p>
        </p:txBody>
      </p:sp>
      <p:sp>
        <p:nvSpPr>
          <p:cNvPr id="13" name="p1">
            <a:extLst xmlns:a="http://schemas.openxmlformats.org/drawingml/2006/main">
              <a:ext uri="{FF2B5EF4-FFF2-40B4-BE49-F238E27FC236}">
                <a16:creationId xmlns:a16="http://schemas.microsoft.com/office/drawing/2014/main" id="{113D8A10-AB4E-4B58-804D-5751791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43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p2">
            <a:extLst xmlns:a="http://schemas.openxmlformats.org/drawingml/2006/main">
              <a:ext uri="{FF2B5EF4-FFF2-40B4-BE49-F238E27FC236}">
                <a16:creationId xmlns:a16="http://schemas.microsoft.com/office/drawing/2014/main" id="{5F25BC7F-88C5-48F7-97E7-D47484A1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mid">
            <a:extLst xmlns:a="http://schemas.openxmlformats.org/drawingml/2006/main">
              <a:ext uri="{FF2B5EF4-FFF2-40B4-BE49-F238E27FC236}">
                <a16:creationId xmlns:a16="http://schemas.microsoft.com/office/drawing/2014/main" id="{CCA48BC5-74EF-4644-A123-3F60EA1B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9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latin typeface="Arial"/>
                <a:ea typeface="Arial"/>
                <a:cs typeface="Arial"/>
              </a:defRPr>
            </a:pPr>
            <a:r>
              <a:rPr sz="1200" b="1"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6" name="f1">
            <a:extLst xmlns:a="http://schemas.openxmlformats.org/drawingml/2006/main">
              <a:ext uri="{FF2B5EF4-FFF2-40B4-BE49-F238E27FC236}">
                <a16:creationId xmlns:a16="http://schemas.microsoft.com/office/drawing/2014/main" id="{BE326A70-8797-4828-96AE-57378FB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CF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f2">
            <a:extLst xmlns:a="http://schemas.openxmlformats.org/drawingml/2006/main">
              <a:ext uri="{FF2B5EF4-FFF2-40B4-BE49-F238E27FC236}">
                <a16:creationId xmlns:a16="http://schemas.microsoft.com/office/drawing/2014/main" id="{5752FDC4-6548-4816-BBB7-0681427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15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A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cxnSp>
        <p:nvCxnSpPr>
          <p:cNvPr id="41" name=""/>
          <p:cNvCxnSpPr>
            <a:stCxn xmlns:a="http://schemas.openxmlformats.org/drawingml/2006/main" id="13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4000500" y="5334000"/>
            <a:ext cx="18669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4000500" y="5619750"/>
            <a:ext cx="18669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5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6324600" y="5334000"/>
            <a:ext cx="18669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5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6324600" y="5619750"/>
            <a:ext cx="18669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557C419-716D-4A40-87EA-135A7338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91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656D"/>
                </a:solidFill>
                <a:latin typeface="Arial"/>
                <a:ea typeface="Arial"/>
                <a:cs typeface="Arial"/>
              </a:rPr>
              <a:t>f⁻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4C02362-D224-41BC-BD64-9305CCE9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91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656D"/>
                </a:solidFill>
                <a:latin typeface="Arial"/>
                <a:ea typeface="Arial"/>
                <a:cs typeface="Arial"/>
              </a:rPr>
              <a:t>f⁺</a:t>
            </a:r>
          </a:p>
        </p:txBody>
      </p:sp>
    </p:spTree>
    <p:extLst>
      <p:ext uri="{BB962C8B-B14F-4D97-AF65-F5344CB8AC3E}">
        <p14:creationId xmlns:p14="http://schemas.microsoft.com/office/powerpoint/2010/main" val="2721127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C1EFAD-7F5D-43FB-8F4F-8BA213FE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state should make cell identity unnecessary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F2BC8A6-97E3-4FAF-B3FC-C08F0EE2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future-suff">
            <a:extLst xmlns:a="http://schemas.openxmlformats.org/drawingml/2006/main">
              <a:ext uri="{FF2B5EF4-FFF2-40B4-BE49-F238E27FC236}">
                <a16:creationId xmlns:a16="http://schemas.microsoft.com/office/drawing/2014/main" id="{F1EC3463-578D-4F82-86D2-F688E6F0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3340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2AADB30-AB0E-46B9-8617-BA6CE24B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sufficiency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C0FB28-357A-4CBA-909A-0C46F790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914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After knowing current state Zₜ, how much extra information does exact cell identity Iₜ provide about descendant state Zₜ₊₁?</a:t>
            </a:r>
          </a:p>
        </p:txBody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369E8300-E206-49D9-A1F6-FEE8CAAA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6101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88066A2-5F7A-448A-844C-CAD28F69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L₊,ₜ = I(Iₜ ; Zₜ₊₁ | Zₜ)</a:t>
            </a:r>
          </a:p>
        </p:txBody>
      </p:sp>
      <p:sp>
        <p:nvSpPr>
          <p:cNvPr id="8" name="past-suff">
            <a:extLst xmlns:a="http://schemas.openxmlformats.org/drawingml/2006/main">
              <a:ext uri="{FF2B5EF4-FFF2-40B4-BE49-F238E27FC236}">
                <a16:creationId xmlns:a16="http://schemas.microsoft.com/office/drawing/2014/main" id="{53615416-76E4-441C-9EFE-BEBBEAAC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28750"/>
            <a:ext cx="53340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407790-61D8-43CF-B509-75882D8D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38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Past sufficiency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28CBB7-2BC4-4F69-9EAB-199D709F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4914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After knowing current state Zₜ, how much extra information does exact cell identity Iₜ provide about predecessor state Zₜ₋₁?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B1F522B4-701E-4024-8ADB-1EF7D65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6101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4FE6C9C-9130-4461-89F5-808F6C7F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037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L₋,ₜ = I(Iₜ ; Zₜ₋₁ | Zₜ)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AD20660-A039-41CA-A407-96249E4E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56D"/>
                </a:solidFill>
                <a:latin typeface="Arial"/>
                <a:ea typeface="Arial"/>
                <a:cs typeface="Arial"/>
              </a:rPr>
              <a:t>SYMBOLS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3D12436-EC82-491E-BB81-CF236068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672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Iₜ = identity of the observed cell     Zₜ = learned state     I(·;·|·) = conditional mutual information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9DBD8E29-A6B4-4751-81A5-03BC6B91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4844934-9D9D-438A-AEEC-D39AA4F2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102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Small L₋ and L₊ ⇒ the state is approximately sufficient in both temporal directions</a:t>
            </a:r>
          </a:p>
        </p:txBody>
      </p:sp>
    </p:spTree>
    <p:extLst>
      <p:ext uri="{BB962C8B-B14F-4D97-AF65-F5344CB8AC3E}">
        <p14:creationId xmlns:p14="http://schemas.microsoft.com/office/powerpoint/2010/main" val="47273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50E958-683C-47B3-8862-6F0E979E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learning objective balances four requirements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2391B4-7092-4856-8E88-BCDD82B8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902FB83F-35D7-4F43-A40B-C5EE2E3B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00150"/>
            <a:ext cx="9715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4BB6E66-A72E-4679-AD21-FC9DD8FF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43025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 𝓛 = λcomp Lcomp + λx Lx + λ₋ L₋ + λ₊ L₊</a:t>
            </a:r>
          </a:p>
        </p:txBody>
      </p:sp>
      <p:sp>
        <p:nvSpPr>
          <p:cNvPr id="5" name="comp">
            <a:extLst xmlns:a="http://schemas.openxmlformats.org/drawingml/2006/main">
              <a:ext uri="{FF2B5EF4-FFF2-40B4-BE49-F238E27FC236}">
                <a16:creationId xmlns:a16="http://schemas.microsoft.com/office/drawing/2014/main" id="{F066B55E-95D5-4B07-8F5F-3CEC6387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5334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F92FF9-E629-4419-9B1A-C3A72911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Lcomp — transport compression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6C19B0-658D-41FE-8827-C7163A6C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The state-level reconstruction should preserve important structure in the fixed cell-level couplings P ref.</a:t>
            </a:r>
          </a:p>
        </p:txBody>
      </p:sp>
      <p:sp>
        <p:nvSpPr>
          <p:cNvPr id="8" name="expr">
            <a:extLst xmlns:a="http://schemas.openxmlformats.org/drawingml/2006/main">
              <a:ext uri="{FF2B5EF4-FFF2-40B4-BE49-F238E27FC236}">
                <a16:creationId xmlns:a16="http://schemas.microsoft.com/office/drawing/2014/main" id="{C7CC3385-5036-4E81-B996-4B1B2966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334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463EF92-EA46-4ED6-BD29-BAE5F6D4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Lx — expression coherence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DC5021F-08CE-4FD6-90D2-73BE7A55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Cells grouped into one state should remain close in the frozen expression representation zᵗᵢ.</a:t>
            </a:r>
          </a:p>
        </p:txBody>
      </p:sp>
      <p:sp>
        <p:nvSpPr>
          <p:cNvPr id="11" name="minus">
            <a:extLst xmlns:a="http://schemas.openxmlformats.org/drawingml/2006/main">
              <a:ext uri="{FF2B5EF4-FFF2-40B4-BE49-F238E27FC236}">
                <a16:creationId xmlns:a16="http://schemas.microsoft.com/office/drawing/2014/main" id="{6A8D8970-A78C-4959-8AC8-E033F83D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5334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92DBD0-4301-4C08-8C87-C9FF7EAB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L₋ — predecessor sufficiency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4C62A3D-C38B-4F45-A3E3-8D37D7C8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Cells within a state should have similar incoming fingerprints f⁻ₜᵢ.</a:t>
            </a:r>
          </a:p>
        </p:txBody>
      </p:sp>
      <p:sp>
        <p:nvSpPr>
          <p:cNvPr id="14" name="plus">
            <a:extLst xmlns:a="http://schemas.openxmlformats.org/drawingml/2006/main">
              <a:ext uri="{FF2B5EF4-FFF2-40B4-BE49-F238E27FC236}">
                <a16:creationId xmlns:a16="http://schemas.microsoft.com/office/drawing/2014/main" id="{2FE9DF0D-968D-41F3-BB95-202E814B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5334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60EF4DD-0271-4B1E-B0DF-8B0BE8B9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L₊ — descendant sufficiency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4F9E06D-D82F-471F-95ED-C48A7668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38700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Cells within a state should have similar outgoing fingerprints f⁺ₜᵢ.</a:t>
            </a:r>
          </a:p>
        </p:txBody>
      </p:sp>
    </p:spTree>
    <p:extLst>
      <p:ext uri="{BB962C8B-B14F-4D97-AF65-F5344CB8AC3E}">
        <p14:creationId xmlns:p14="http://schemas.microsoft.com/office/powerpoint/2010/main" val="810989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8A37BA-0F3E-4E9C-8A59-235F8495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Nested model selection avoids two degeneracies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EFB058-DF55-44D9-996F-5C90939C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deg1">
            <a:extLst xmlns:a="http://schemas.openxmlformats.org/drawingml/2006/main">
              <a:ext uri="{FF2B5EF4-FFF2-40B4-BE49-F238E27FC236}">
                <a16:creationId xmlns:a16="http://schemas.microsoft.com/office/drawing/2014/main" id="{713A3AA3-211C-4CB3-ACBD-5DD51132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5257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C4D0187-8431-4ED9-AEAB-59CAA809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Self-fulfilling fingerprints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44B7C6-7341-471D-B090-DEDE8613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838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If the coupling were built from learned memberships, within-state fingerprints would be homogeneous by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Response: estimate and freeze P ref before learning M.</a:t>
            </a:r>
          </a:p>
        </p:txBody>
      </p:sp>
      <p:sp>
        <p:nvSpPr>
          <p:cNvPr id="6" name="deg2">
            <a:extLst xmlns:a="http://schemas.openxmlformats.org/drawingml/2006/main">
              <a:ext uri="{FF2B5EF4-FFF2-40B4-BE49-F238E27FC236}">
                <a16:creationId xmlns:a16="http://schemas.microsoft.com/office/drawing/2014/main" id="{B3B730D4-CF86-4F8D-AA8C-610B316D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52550"/>
            <a:ext cx="5257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C63002E-54FD-473A-BD0B-22457236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6210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Trivial coarsening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71DCB3-A517-445F-AF08-C0F055CB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838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Transition losses decrease as the neighboring state space is coarsened. At K=1, both losses vanish.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Response: do not use L₋ or L₊ to choose K.</a:t>
            </a:r>
          </a:p>
        </p:txBody>
      </p:sp>
      <p:sp>
        <p:nvSpPr>
          <p:cNvPr id="9" name="nested-0">
            <a:extLst xmlns:a="http://schemas.openxmlformats.org/drawingml/2006/main">
              <a:ext uri="{FF2B5EF4-FFF2-40B4-BE49-F238E27FC236}">
                <a16:creationId xmlns:a16="http://schemas.microsoft.com/office/drawing/2014/main" id="{D1593989-2589-41BC-AF01-8106D7E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676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ested-1">
            <a:extLst xmlns:a="http://schemas.openxmlformats.org/drawingml/2006/main">
              <a:ext uri="{FF2B5EF4-FFF2-40B4-BE49-F238E27FC236}">
                <a16:creationId xmlns:a16="http://schemas.microsoft.com/office/drawing/2014/main" id="{A0834A9E-4204-453C-9CA4-83FBFAD5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1676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sted-2">
            <a:extLst xmlns:a="http://schemas.openxmlformats.org/drawingml/2006/main">
              <a:ext uri="{FF2B5EF4-FFF2-40B4-BE49-F238E27FC236}">
                <a16:creationId xmlns:a16="http://schemas.microsoft.com/office/drawing/2014/main" id="{F6E8B690-042A-4FD7-9732-BEF95D18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1676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ested-3">
            <a:extLst xmlns:a="http://schemas.openxmlformats.org/drawingml/2006/main">
              <a:ext uri="{FF2B5EF4-FFF2-40B4-BE49-F238E27FC236}">
                <a16:creationId xmlns:a16="http://schemas.microsoft.com/office/drawing/2014/main" id="{F7025AD0-7D2F-4989-96A1-F97E232F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1676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ested-4">
            <a:extLst xmlns:a="http://schemas.openxmlformats.org/drawingml/2006/main">
              <a:ext uri="{FF2B5EF4-FFF2-40B4-BE49-F238E27FC236}">
                <a16:creationId xmlns:a16="http://schemas.microsoft.com/office/drawing/2014/main" id="{CFC9A686-31C0-4B49-984A-9ADC0B76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29150"/>
            <a:ext cx="1676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38400" y="5019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24400" y="5019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10400" y="5019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96400" y="5019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A9A381A-DF71-4C36-A328-2B98742E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Choose 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C538DA1-9157-45BA-B0BD-F72B6267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information + stability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EF8488E-A68A-47DA-A7E5-48E8A49A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Choose K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393436F-29A3-4B86-B044-FDC17243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61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compression + expression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266B2E7-911A-4F27-9839-474F534F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815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Fix ε, K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0CC80F9-1F75-42C6-84F7-5550F9DA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lock regime + granularity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6FD32F1-8D4B-4D66-BD59-A0DF6AB7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815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4. Sweep λ₋, λ₊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4E70C83-359F-4FFA-82B7-514E6527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temporal sufficiency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56F93B6-DB4B-4157-BE1B-515DC362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815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5. Report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0719AB7-4B23-4C6C-A203-FA63D2AC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sensitivity</a:t>
            </a:r>
          </a:p>
        </p:txBody>
      </p:sp>
    </p:spTree>
    <p:extLst>
      <p:ext uri="{BB962C8B-B14F-4D97-AF65-F5344CB8AC3E}">
        <p14:creationId xmlns:p14="http://schemas.microsoft.com/office/powerpoint/2010/main" val="8165391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CB3100-EBBC-453C-9D36-B290F954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 requires robust and biologically useful states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DA6E23-6BB0-4A0D-A727-C1AA2A83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synthetic">
            <a:extLst xmlns:a="http://schemas.openxmlformats.org/drawingml/2006/main">
              <a:ext uri="{FF2B5EF4-FFF2-40B4-BE49-F238E27FC236}">
                <a16:creationId xmlns:a16="http://schemas.microsoft.com/office/drawing/2014/main" id="{CD54EA99-4A7F-4840-8209-7A217906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34671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43C8920-E3DD-405E-91EB-B73334E7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recovery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50754E-5DCB-42B1-8D05-D482DB23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Recover known states and transitions. Test sensitivity to ε, K, representation, initialization, and objective weights.</a:t>
            </a:r>
          </a:p>
        </p:txBody>
      </p:sp>
      <p:sp>
        <p:nvSpPr>
          <p:cNvPr id="6" name="geometry">
            <a:extLst xmlns:a="http://schemas.openxmlformats.org/drawingml/2006/main">
              <a:ext uri="{FF2B5EF4-FFF2-40B4-BE49-F238E27FC236}">
                <a16:creationId xmlns:a16="http://schemas.microsoft.com/office/drawing/2014/main" id="{53837E3D-E3D6-49E2-A761-DEE7956D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09700"/>
            <a:ext cx="34671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AA8749-D98F-42C3-B992-BB27946C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Geometry-aware null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DDDF2A-6678-4C4E-95D6-66A26408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Ask whether smooth expression geometry already predicts fingerprint heterogeneity. Residual non-smooth signal is interesting, not proof of fate priming.</a:t>
            </a:r>
          </a:p>
        </p:txBody>
      </p:sp>
      <p:sp>
        <p:nvSpPr>
          <p:cNvPr id="9" name="bio-validation">
            <a:extLst xmlns:a="http://schemas.openxmlformats.org/drawingml/2006/main">
              <a:ext uri="{FF2B5EF4-FFF2-40B4-BE49-F238E27FC236}">
                <a16:creationId xmlns:a16="http://schemas.microsoft.com/office/drawing/2014/main" id="{B8AB58FC-36D1-477F-8A2C-71A65978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09700"/>
            <a:ext cx="34671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9B944D-35A9-49CD-9E0E-C212F17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Biological validation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3DA51CC-5EA3-41C2-A8A3-85BCBDAD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Use replicate bootstrap support and, when available, held-out genes, lineage, velocity, perturbation, or spatial evidence.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9BE70B-2A56-4C05-99F4-6CDF01DC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56D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9335733-06C7-4891-A242-F07DE132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942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biological system provides the clearest falsifiable test — and what result would convince us these states are more useful than marker-based clusters?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C5653D07-C957-4800-8151-C231F542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9573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2026-09-02T14:44:02.8470000Z</dcterms:created>
  <dcterms:modified xsi:type="dcterms:W3CDTF">2026-09-02T14:44:02.8470000Z</dcterms:modified>
</coreProperties>
</file>